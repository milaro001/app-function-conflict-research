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份设计试用稿围绕淘宝支付异常之后的恢复任务展开，重点是优惠券返还与金额确认。用户首先需要知道钱是否付出，再了解券在哪里，最后确认重试时的实际金额。右侧是概念静物配图，并非淘宝真实界面或交易记录。后面的界面与金额同样是可编辑的设计演示，验证尚未开展，是否接入V0.4留待本次效果审阅后决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条原话把一段抱怨拆成了连续任务。尝试付款时，用户需要确定钱有没有付出。取消并查券时，用户需要知道券的去向。重新结算时，用户需要理解实际要付多少钱。它们分别来自同一篇小红书讨论中的评论：“付不了点击取消，券还使用了[哭惹R]”“取消了券也没有了，搞不起活动别搞”“我也是，越付越贵，还把美妆卷吞了”。页面只摘取与任务相关的原句，未改变含义。</a:t>
            </a:r>
          </a:p>
          <a:p>
            <a:pPr/>
            <a:endParaRPr lang="zh-CN" dirty="0"/>
          </a:p>
          <a:p>
            <a:pPr/>
            <a:r>
              <a:rPr lang="zh-CN" dirty="0"/>
              <a:t>这三条评论发布于二〇二六年十月二十日，关联原帖是《淘宝双十一购物车结算不了，到底是为什么！》。原帖链接为 https://www.xiaohongshu.com/explore/6ad75aef000000002a02e9fc 。这些自述支持恢复任务的研究方向，尚不能证明后台根因，也不能据此认定当前安卓版本仍有同样故障。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议题关联十七条评论，其中十六条集中在同一个大促讨论帖。共有三条关联帖，来源平台都是小红书，不能把评论ID直接当成独立用户人数，也不能用这个数量推算故障发生率。另一条价格预览相关评论不一定与付款失败属于同一原因，保留作相邻任务线索。</a:t>
            </a:r>
          </a:p>
          <a:p>
            <a:pPr/>
            <a:endParaRPr lang="zh-CN" dirty="0"/>
          </a:p>
          <a:p>
            <a:pPr/>
            <a:r>
              <a:rPr lang="zh-CN" dirty="0"/>
              <a:t>当前严格合格的安卓样本为零，因为设备、版本和实际操作条件尚未核实。这里的零是资格条件的结果，并非没有安卓用户遇到问题。研究材料适合先定位任务、形成原型和核查计划，不能支持多数用户受影响的结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前直接观察到的是用户自述没有付成款，但券却显示使用或消失。至少有三类解释需要区分。第一类是支付回执、取消与释放状态没有及时一致，需要对齐这几个时间点。第二类是另一笔待付款订单仍占着同一张券，需要检查占用订单ID及其状态。第三类是券已经到期或当前商品不再符合条件，需要核验有效期和活动规则。</a:t>
            </a:r>
          </a:p>
          <a:p>
            <a:pPr/>
            <a:endParaRPr lang="zh-CN" dirty="0"/>
          </a:p>
          <a:p>
            <a:pPr/>
            <a:r>
              <a:rPr lang="zh-CN" dirty="0"/>
              <a:t>这些支路都是待验证假设，没有可靠记录时不能认定是哪一种。核查后，才能决定主要修复状态、解释使用规则，还是提供人工核查路径。用户提出“吞券”是体验描述，不能直接等同于已经确认的系统扣券故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恢复首先查询订单与支付回执。如果支付结果仍未确定，就只查询，不当作最终失败让用户重试。已支付时进入成功订单。最终失败后，才能继续确认券的占用与释放，且需要给出占用来源。然后按商品、券和活动规则重新计算报价。最后由用户确认新的金额后继续，也保留返回修改订单的选择。</a:t>
            </a:r>
          </a:p>
          <a:p>
            <a:pPr/>
            <a:endParaRPr lang="zh-CN" dirty="0"/>
          </a:p>
          <a:p>
            <a:pPr/>
            <a:r>
              <a:rPr lang="zh-CN" dirty="0"/>
              <a:t>这四段前台任务依赖订单、支付、优惠系统与重复操作控制。只有服务端确认已释放，界面才写已返还。没有可靠的预计时间时，不承诺固定返还时长。这些是拟议设计约束，需要业务与技术团队核对后实现。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方案A覆盖完整异常恢复：先查付款结果，再查券，重新计算金额后由用户自行继续。它依赖订单、支付与优惠系统协同。研究阶段把其相对投入估为高，因为接口、状态与异常分支的协作较多，但这不是实际工时估算。</a:t>
            </a:r>
          </a:p>
          <a:p>
            <a:pPr/>
            <a:endParaRPr lang="zh-CN" dirty="0"/>
          </a:p>
          <a:p>
            <a:pPr/>
            <a:r>
              <a:rPr lang="zh-CN" dirty="0"/>
              <a:t>方案B先解释已确认状态，修复已经定位的回写问题，无法确定的部分进入人工核查。它依赖可定位的问题与可用的人工入口，相对投入暂估为中。它的覆盖范围更窄，用户仍可能等待。当前没有测量实际收益、覆盖人数或工时，不能据此直接确定实施优先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这张原型展示付款仍在确认中的状态。演示订单尾号为零一四二，应付二百五十元，均为虚构任务数据。此时界面只提供查询付款结果与查看订单，不提供直接再次支付的操作。</a:t>
            </a:r>
          </a:p>
          <a:p>
            <a:pPr/>
            <a:endParaRPr lang="zh-CN" dirty="0"/>
          </a:p>
          <a:p>
            <a:pPr/>
            <a:r>
              <a:rPr lang="zh-CN" dirty="0"/>
              <a:t>查询有三种去向。已支付则查看成功订单并停止重试。最终失败才进入查券和重新结算。仍未确定就保留确认中，允许稍后再查。真实产品需要服务端提供可靠状态，这张原型自身没有连接真实支付或账户系统。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左侧演示最终失败之后券仍被原订单占用，显示平台券三十元和原占用订单尾号。刷新只表示再查询一次，不代表已经释放。右侧演示服务端确认券已返还，并且当前仍满足适用条件，用户才可以重新结算。</a:t>
            </a:r>
          </a:p>
          <a:p>
            <a:pPr/>
            <a:endParaRPr lang="zh-CN" dirty="0"/>
          </a:p>
          <a:p>
            <a:pPr/>
            <a:r>
              <a:rPr lang="zh-CN" dirty="0"/>
              <a:t>两种状态的信息位置保持一致，区别集中在状态解释和下一步操作。已返还也不代表本次应付必然回到旧金额，仍然需要取新的报价。页面没有承诺固定返还时间，所有金额、订单与状态都是设计演示。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这个演示任务的商品金额为三百元，店铺优惠二十元，平台券三十元。上次应付是二百五十元。重新报价时，假定平台券已经超过演示有效期，因此本次是三百减二十，得到二百八十元，比上次增加三十元。</a:t>
            </a:r>
          </a:p>
          <a:p>
            <a:pPr/>
            <a:endParaRPr lang="zh-CN" dirty="0"/>
          </a:p>
          <a:p>
            <a:pPr/>
            <a:r>
              <a:rPr lang="zh-CN" dirty="0"/>
              <a:t>界面把新金额、与上次的差额和差额原因放在一起，提供返回处理券问题和明确按新金额继续两种选择。这里的到期情形用于检验用户能否理解报价变化，没有把原评论的涨价归因为已证实的券到期。本页不是评论中的实际价格，也不会发起真实支付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方案B展示已确认与待核查信息分开的处理方式。演示中付款失败和原订单取消已确认，券当前不可用，但释放记录与适用资格还待核。用户可以提交人工核查，或者先查看订单与金额。</a:t>
            </a:r>
          </a:p>
          <a:p>
            <a:pPr/>
            <a:endParaRPr lang="zh-CN" dirty="0"/>
          </a:p>
          <a:p>
            <a:pPr/>
            <a:r>
              <a:rPr lang="zh-CN" dirty="0"/>
              <a:t>核查入口应携带脱敏后的订单结果和时间、占券来源及释放记录、当前报价和适用规则，让处理人员理解同一笔问题。B的代价是范围较窄，用户仍可能等待。此处只模拟登记，不向客服或账户系统提交信息，也没有承诺处理时限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第一步拟检查二十笔相关脱敏记录，覆盖付款失败与取消，并保留回查已支付等必要对照。把支付回执、取消时间、占用订单和释放结果对齐，形成状态真值与可复现用例。不能只用用户表述决定系统真值。</a:t>
            </a:r>
          </a:p>
          <a:p>
            <a:pPr/>
            <a:endParaRPr lang="zh-CN" dirty="0"/>
          </a:p>
          <a:p>
            <a:pPr/>
            <a:r>
              <a:rPr lang="zh-CN" dirty="0"/>
              <a:t>第二步拟招募八名使用安卓和优惠券的用户比较A、B原型。四人先A后B，另外四人先B后A，使用等价任务与相同的业务真值。记录每个人每项任务的理解、操作、求助和失败原因。八人体验两版仍然是八名独立用户。计划的记录数、人数与资源安排尚需执行前落实，这些都不是已完成的测试结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测试应覆盖六种输入：支付结果仍未定，付款失败但券仍被占用，失败后券已返还，券到期或资格改变，回查结果为已支付，以及切后台或重复操作。先用可靠状态定义这些任务，再观察界面是否让用户形成正确理解。</a:t>
            </a:r>
          </a:p>
          <a:p>
            <a:pPr/>
            <a:endParaRPr lang="zh-CN" dirty="0"/>
          </a:p>
          <a:p>
            <a:pPr/>
            <a:r>
              <a:rPr lang="zh-CN" dirty="0"/>
              <a:t>建议标准是每版八人都能说对支付状态、最终金额和变化原因，每项任务每版至少六人不靠提示完成。预设系统用例中的重复支付或重复放券为零，是独立的系统检查要求，不能仅凭界面测试判定。出现关键误解时回到对应环节修改并复测。这些阈值是暂定计划，尚未实测，小样本也不能外推整体转化率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一步由订单、支付与优惠相关团队明确状态字典和释放规则。设计与研究团队依据真值安排原型任务，记录理解、求助和失败原因。是否接入V0.4、是否实际启动测试和是否上线发布，需要分别判断。本次交付用于设计审阅，未开展真实用户测试或线上效果验证，未接入V0.4。</a:t>
            </a:r>
          </a:p>
          <a:p>
            <a:pPr/>
            <a:endParaRPr lang="zh-CN" dirty="0"/>
          </a:p>
          <a:p>
            <a:pPr/>
            <a:r>
              <a:rPr lang="zh-CN" dirty="0"/>
              <a:t>三个可点击证据入口分别是结算失败原帖 https://www.xiaohongshu.com/explore/6ad75aef000000002a02e9fc ，分摊金额原帖 https://www.xiaohongshu.com/explore/6ad788d8000000002703424f ，以及价格预览原帖 https://www.xiaohongshu.com/explore/6ae064c00000000019002a2e 。原研究窗口为二〇二五年十月二十七日至二〇二六年十月二十七日，设备、版本、当前界面和后台记录仍待核实。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taobao_payment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taobao_payment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d56a04678cc9333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www.xiaohongshu.com/explore/6ad75aef000000002a02e9fc" TargetMode="External"/>
  <Relationship Id="rId3" Type="http://schemas.openxmlformats.org/officeDocument/2006/relationships/hyperlink" Target="https://www.xiaohongshu.com/explore/6ad788d8000000002703424f" TargetMode="External"/>
  <Relationship Id="rId4" Type="http://schemas.openxmlformats.org/officeDocument/2006/relationships/hyperlink" Target="https://www.xiaohongshu.com/explore/6ae064c00000000019002a2e" TargetMode="External"/>
  <Relationship Id="rId5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image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cover-title"/>
          <p:cNvGrpSpPr/>
          <p:nvPr/>
        </p:nvGrpSpPr>
        <p:grpSpPr>
          <a:xfrm>
            <a:off x="590550" y="1222375"/>
            <a:ext cx="3551682" cy="3727831"/>
            <a:chOff x="590550" y="1222375"/>
            <a:chExt cx="3551682" cy="3727831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12223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淘宝功能迭代研究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2047875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支付异常之后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2828925"/>
              <a:ext cx="296608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把券与金额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3609975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解释清楚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7794" y="45688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优惠券返还与金额确认</a:t>
              </a:r>
            </a:p>
          </p:txBody>
        </p:sp>
      </p:grpSp>
      <p:grpSp>
        <p:nvGrpSpPr>
          <p:cNvPr id="11" name="cover-caption"/>
          <p:cNvGrpSpPr/>
          <p:nvPr/>
        </p:nvGrpSpPr>
        <p:grpSpPr>
          <a:xfrm>
            <a:off x="638556" y="5403850"/>
            <a:ext cx="2951055" cy="648208"/>
            <a:chOff x="638556" y="5403850"/>
            <a:chExt cx="2951055" cy="648208"/>
          </a:xfrm>
        </p:grpSpPr>
        <p:sp>
          <p:nvSpPr>
            <p:cNvPr id="9" name="TextBox 9"/>
            <p:cNvSpPr txBox="1"/>
            <p:nvPr/>
          </p:nvSpPr>
          <p:spPr>
            <a:xfrm>
              <a:off x="638556" y="54038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原型与验证方案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842" y="5788025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2026.10 概念配图，非真实交易界面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14350"/>
            <a:ext cx="6072759" cy="986282"/>
            <a:chOff x="592074" y="514350"/>
            <a:chExt cx="6072759" cy="986282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607275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一句抱怨，指向三处任务断点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20268" y="1177925"/>
              <a:ext cx="34374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小红书用户自述，2026年10月20日</a:t>
              </a:r>
            </a:p>
          </p:txBody>
        </p:sp>
      </p:grpSp>
      <p:grpSp>
        <p:nvGrpSpPr>
          <p:cNvPr id="26" name="evidence-journey"/>
          <p:cNvGrpSpPr/>
          <p:nvPr/>
        </p:nvGrpSpPr>
        <p:grpSpPr>
          <a:xfrm>
            <a:off x="609600" y="2305050"/>
            <a:ext cx="10972800" cy="3767582"/>
            <a:chOff x="609600" y="2305050"/>
            <a:chExt cx="10972800" cy="3767582"/>
          </a:xfrm>
        </p:grpSpPr>
        <p:sp>
          <p:nvSpPr>
            <p:cNvPr id="5" name="Line 5"/>
            <p:cNvSpPr/>
            <p:nvPr/>
          </p:nvSpPr>
          <p:spPr>
            <a:xfrm>
              <a:off x="3524250" y="2476500"/>
              <a:ext cx="561975" cy="1"/>
            </a:xfrm>
            <a:prstGeom prst="line">
              <a:avLst/>
            </a:prstGeom>
            <a:noFill/>
            <a:ln w="2857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6" name="Ellipse 6"/>
            <p:cNvSpPr/>
            <p:nvPr/>
          </p:nvSpPr>
          <p:spPr>
            <a:xfrm>
              <a:off x="628650" y="23050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40765" y="237807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3282" y="23082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尝试付款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2990850"/>
              <a:ext cx="3505200" cy="18669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913" y="3219450"/>
              <a:ext cx="2221046" cy="805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“付不了点击取消，</a:t>
              </a:r>
              <a:b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券还使用了”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9318" y="51308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用户需要确认：钱付出去了吗？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258050" y="2476500"/>
              <a:ext cx="561975" cy="1"/>
            </a:xfrm>
            <a:prstGeom prst="line">
              <a:avLst/>
            </a:prstGeom>
            <a:noFill/>
            <a:ln w="2857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3" name="Ellipse 13"/>
            <p:cNvSpPr/>
            <p:nvPr/>
          </p:nvSpPr>
          <p:spPr>
            <a:xfrm>
              <a:off x="4362450" y="23050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74565" y="237807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47082" y="230822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取消与查券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43400" y="2990850"/>
              <a:ext cx="3505200" cy="18669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61713" y="3282950"/>
              <a:ext cx="251011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“取消了券也没有了”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73118" y="51308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用户需要确认：券现在在哪里？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096250" y="23050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8365" y="237807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80882" y="23082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重新结算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77200" y="2990850"/>
              <a:ext cx="3505200" cy="18669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95513" y="3219450"/>
              <a:ext cx="2477586" cy="805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“我也是，越付越贵，</a:t>
              </a:r>
              <a:b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还把美妆卷吞了”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6918" y="51308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用户需要确认：重试要付多少？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0268" y="5749925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三条原话来自同一讨论帖。它们支持恢复任务，尚不能证明后台根因。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2074" y="514350"/>
            <a:ext cx="6609186" cy="674751"/>
            <a:chOff x="592074" y="514350"/>
            <a:chExt cx="6609186" cy="674751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660918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17条关联评论，先用于定位场景</a:t>
              </a:r>
            </a:p>
          </p:txBody>
        </p:sp>
      </p:grpSp>
      <p:grpSp>
        <p:nvGrpSpPr>
          <p:cNvPr id="7" name="sample-focus"/>
          <p:cNvGrpSpPr/>
          <p:nvPr/>
        </p:nvGrpSpPr>
        <p:grpSpPr>
          <a:xfrm>
            <a:off x="590550" y="2152650"/>
            <a:ext cx="2524887" cy="2635631"/>
            <a:chOff x="590550" y="2152650"/>
            <a:chExt cx="2524887" cy="2635631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152650"/>
              <a:ext cx="1763996" cy="2133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9996" y="3778250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条关联评论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044" y="440690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适合先定位任务场景</a:t>
              </a:r>
            </a:p>
          </p:txBody>
        </p:sp>
      </p:grpSp>
      <p:grpSp>
        <p:nvGrpSpPr>
          <p:cNvPr id="18" name="sample-boundary"/>
          <p:cNvGrpSpPr/>
          <p:nvPr/>
        </p:nvGrpSpPr>
        <p:grpSpPr>
          <a:xfrm>
            <a:off x="5619750" y="2028825"/>
            <a:ext cx="4669384" cy="4186682"/>
            <a:chOff x="5619750" y="2028825"/>
            <a:chExt cx="4669384" cy="4186682"/>
          </a:xfrm>
        </p:grpSpPr>
        <p:sp>
          <p:nvSpPr>
            <p:cNvPr id="8" name="TextBox 8"/>
            <p:cNvSpPr txBox="1"/>
            <p:nvPr/>
          </p:nvSpPr>
          <p:spPr>
            <a:xfrm>
              <a:off x="5619750" y="2028825"/>
              <a:ext cx="807756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37807" y="20605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条来自同一帖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40093" y="25304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集中于同一次大促讨论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19750" y="3362325"/>
              <a:ext cx="422928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37807" y="33940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条关联帖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40093" y="38639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来源平台均为小红书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19750" y="4695825"/>
              <a:ext cx="422928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37807" y="472757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条严格合格安卓样本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40093" y="519747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设备、版本与当前适用性待核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30418" y="5892800"/>
              <a:ext cx="4658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评论ID不等于人数，数量不能推算故障发生率。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14350"/>
            <a:ext cx="5153787" cy="986282"/>
            <a:chOff x="592074" y="514350"/>
            <a:chExt cx="5153787" cy="986282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467944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后台原因仍有三种可能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20268" y="117792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现有材料描述了困扰，尚未复现当前版本或核对后台</a:t>
              </a:r>
            </a:p>
          </p:txBody>
        </p:sp>
      </p:grpSp>
      <p:grpSp>
        <p:nvGrpSpPr>
          <p:cNvPr id="24" name="hypothesis-map"/>
          <p:cNvGrpSpPr/>
          <p:nvPr/>
        </p:nvGrpSpPr>
        <p:grpSpPr>
          <a:xfrm>
            <a:off x="609600" y="1984375"/>
            <a:ext cx="7649718" cy="4097782"/>
            <a:chOff x="609600" y="1984375"/>
            <a:chExt cx="7649718" cy="4097782"/>
          </a:xfrm>
        </p:grpSpPr>
        <p:sp>
          <p:nvSpPr>
            <p:cNvPr id="5" name="Rectangle 5"/>
            <p:cNvSpPr/>
            <p:nvPr/>
          </p:nvSpPr>
          <p:spPr>
            <a:xfrm>
              <a:off x="609600" y="2533650"/>
              <a:ext cx="2838450" cy="2095500"/>
            </a:xfrm>
            <a:prstGeom prst="roundRect">
              <a:avLst>
                <a:gd name="adj" fmla="val 63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8106" y="27940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用户自述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6582" y="3235325"/>
              <a:ext cx="21549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没有付成款，</a:t>
              </a:r>
              <a:b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券却已使用或消失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448050" y="35814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19550" y="23622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1219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019550" y="2362200"/>
              <a:ext cx="533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847082" y="198437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支付或取消状态未回写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48606" y="247015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对齐支付回执、取消和释放时间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448050" y="35814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019550" y="35814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019550" y="3790950"/>
              <a:ext cx="533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47082" y="341312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另一笔订单仍占券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48606" y="3898900"/>
              <a:ext cx="29013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查占用订单ID与待付款状态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448050" y="35814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019550" y="3581400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0"/>
                  </a:moveTo>
                  <a:lnTo>
                    <a:pt x="0" y="1638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019550" y="5219700"/>
              <a:ext cx="533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847082" y="484187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券到期或资格改变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48606" y="532765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核验有效期、商品与活动规则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0268" y="5759450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橙色分支表示待验证解释。核查记录后，才能决定修状态还是解释规则。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2074" y="514350"/>
            <a:ext cx="5143881" cy="674751"/>
            <a:chOff x="592074" y="514350"/>
            <a:chExt cx="5143881" cy="674751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5143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恢复流程的四个继续条件</a:t>
              </a:r>
            </a:p>
          </p:txBody>
        </p:sp>
      </p:grpSp>
      <p:grpSp>
        <p:nvGrpSpPr>
          <p:cNvPr id="33" name="recovery-corridor"/>
          <p:cNvGrpSpPr/>
          <p:nvPr/>
        </p:nvGrpSpPr>
        <p:grpSpPr>
          <a:xfrm>
            <a:off x="590550" y="1670050"/>
            <a:ext cx="10991850" cy="4416425"/>
            <a:chOff x="590550" y="1670050"/>
            <a:chExt cx="10991850" cy="4416425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167005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24987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确认付款结果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837" y="3187700"/>
              <a:ext cx="1983486" cy="699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结果未定：只查询</a:t>
              </a:r>
              <a:b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已支付：去订单详情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41719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2742" y="43783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依赖后台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47117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订单与支付回执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086100" y="2667000"/>
              <a:ext cx="228600" cy="1"/>
            </a:xfrm>
            <a:prstGeom prst="line">
              <a:avLst/>
            </a:prstGeom>
            <a:noFill/>
            <a:ln w="2857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09950" y="167005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18332" y="24987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确认券的去向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0237" y="3187700"/>
              <a:ext cx="2201926" cy="699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占用中：说明来源</a:t>
              </a:r>
              <a:b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已释放：才能重新选用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429000" y="41719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22142" y="43783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依赖后台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20618" y="471170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券流水和占用订单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905500" y="2667000"/>
              <a:ext cx="228600" cy="1"/>
            </a:xfrm>
            <a:prstGeom prst="line">
              <a:avLst/>
            </a:prstGeom>
            <a:noFill/>
            <a:ln w="2857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29350" y="167005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7732" y="24987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重新计算金额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9637" y="3187700"/>
              <a:ext cx="2201926" cy="699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逐项展示实际抵扣</a:t>
              </a:r>
              <a:b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解释和上次不同的金额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248400" y="41719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41542" y="43783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依赖后台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0018" y="47117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商品、券与活动规则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724900" y="2667000"/>
              <a:ext cx="228600" cy="1"/>
            </a:xfrm>
            <a:prstGeom prst="line">
              <a:avLst/>
            </a:prstGeom>
            <a:noFill/>
            <a:ln w="2857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48750" y="167005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57132" y="24987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用户明确确认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59037" y="3187700"/>
              <a:ext cx="1983486" cy="699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可以返回修改订单</a:t>
              </a:r>
              <a:b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看清新金额后再继续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067800" y="41719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0942" y="43783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依赖后台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59418" y="47117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支付提交与重复操作控制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5448300"/>
              <a:ext cx="10972800" cy="638175"/>
            </a:xfrm>
            <a:prstGeom prst="roundRect">
              <a:avLst>
                <a:gd name="adj" fmla="val 17910"/>
              </a:avLst>
            </a:prstGeom>
            <a:solidFill>
              <a:srgbClr val="E8EF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8294" y="5597525"/>
              <a:ext cx="74107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未确认就不写“已返还”，没有可靠预计时间就不承诺固定时长。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14350"/>
            <a:ext cx="6537198" cy="986282"/>
            <a:chOff x="592074" y="514350"/>
            <a:chExt cx="6537198" cy="986282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653719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两种方案，覆盖的恢复范围不同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20268" y="117792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高、中为相对研究估计，实际工时、收益与覆盖人数尚未测量</a:t>
              </a:r>
            </a:p>
          </p:txBody>
        </p:sp>
      </p:grpSp>
      <p:grpSp>
        <p:nvGrpSpPr>
          <p:cNvPr id="12" name="option-a"/>
          <p:cNvGrpSpPr/>
          <p:nvPr/>
        </p:nvGrpSpPr>
        <p:grpSpPr>
          <a:xfrm>
            <a:off x="609600" y="1790700"/>
            <a:ext cx="5181600" cy="4086225"/>
            <a:chOff x="609600" y="1790700"/>
            <a:chExt cx="5181600" cy="4086225"/>
          </a:xfrm>
        </p:grpSpPr>
        <p:sp>
          <p:nvSpPr>
            <p:cNvPr id="5" name="Rectangle 5"/>
            <p:cNvSpPr/>
            <p:nvPr/>
          </p:nvSpPr>
          <p:spPr>
            <a:xfrm>
              <a:off x="609600" y="1790700"/>
              <a:ext cx="5181600" cy="4086225"/>
            </a:xfrm>
            <a:prstGeom prst="roundRect">
              <a:avLst>
                <a:gd name="adj" fmla="val 37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8675" y="2095500"/>
              <a:ext cx="76388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方案 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3722" y="2505075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完整异常恢复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8294" y="3124200"/>
              <a:ext cx="24963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查付款结果，再查券，</a:t>
              </a:r>
              <a:b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重算金额后自行继续。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57250" y="4391025"/>
              <a:ext cx="4591050" cy="9525"/>
            </a:xfrm>
            <a:custGeom>
              <a:avLst/>
              <a:gdLst/>
              <a:ahLst/>
              <a:cxnLst/>
              <a:rect l="l" t="t" r="r" b="b"/>
              <a:pathLst>
                <a:path w="4591050" h="9525">
                  <a:moveTo>
                    <a:pt x="0" y="0"/>
                  </a:moveTo>
                  <a:lnTo>
                    <a:pt x="45910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437" y="4622800"/>
              <a:ext cx="325917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依赖订单、支付与优惠系统协同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199" y="5067300"/>
              <a:ext cx="384459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研究估计：投入高，覆盖恢复任务较完整</a:t>
              </a:r>
            </a:p>
          </p:txBody>
        </p:sp>
      </p:grpSp>
      <p:grpSp>
        <p:nvGrpSpPr>
          <p:cNvPr id="20" name="option-b"/>
          <p:cNvGrpSpPr/>
          <p:nvPr/>
        </p:nvGrpSpPr>
        <p:grpSpPr>
          <a:xfrm>
            <a:off x="6400800" y="1790700"/>
            <a:ext cx="5181600" cy="4086225"/>
            <a:chOff x="6400800" y="1790700"/>
            <a:chExt cx="5181600" cy="4086225"/>
          </a:xfrm>
        </p:grpSpPr>
        <p:sp>
          <p:nvSpPr>
            <p:cNvPr id="13" name="Rectangle 13"/>
            <p:cNvSpPr/>
            <p:nvPr/>
          </p:nvSpPr>
          <p:spPr>
            <a:xfrm>
              <a:off x="6400800" y="1790700"/>
              <a:ext cx="5181600" cy="4086225"/>
            </a:xfrm>
            <a:prstGeom prst="roundRect">
              <a:avLst>
                <a:gd name="adj" fmla="val 3730"/>
              </a:avLst>
            </a:prstGeom>
            <a:solidFill>
              <a:srgbClr val="E8EFF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875" y="2095500"/>
              <a:ext cx="76388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方案 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4922" y="2505075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状态解释与窄修复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9494" y="3124200"/>
              <a:ext cx="274396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先修已确认的回写问题，</a:t>
              </a:r>
              <a:b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无法确定时转人工核查。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648450" y="4391025"/>
              <a:ext cx="4591050" cy="9525"/>
            </a:xfrm>
            <a:custGeom>
              <a:avLst/>
              <a:gdLst/>
              <a:ahLst/>
              <a:cxnLst/>
              <a:rect l="l" t="t" r="r" b="b"/>
              <a:pathLst>
                <a:path w="4591050" h="9525">
                  <a:moveTo>
                    <a:pt x="0" y="0"/>
                  </a:moveTo>
                  <a:lnTo>
                    <a:pt x="45910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0637" y="4622800"/>
              <a:ext cx="34907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依赖已定位的问题与人工处理入口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1399" y="5067300"/>
              <a:ext cx="320649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研究估计：投入中，等待仍有成本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14350"/>
            <a:ext cx="6072759" cy="986282"/>
            <a:chOff x="592074" y="514350"/>
            <a:chExt cx="6072759" cy="986282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607275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支付结果未定，用户先查结果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20268" y="117792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设计原型，金额、订单号和状态均为演示数据</a:t>
              </a:r>
            </a:p>
          </p:txBody>
        </p:sp>
      </p:grpSp>
      <p:grpSp>
        <p:nvGrpSpPr>
          <p:cNvPr id="15" name="payment-pending-ui"/>
          <p:cNvGrpSpPr/>
          <p:nvPr/>
        </p:nvGrpSpPr>
        <p:grpSpPr>
          <a:xfrm>
            <a:off x="609600" y="1809750"/>
            <a:ext cx="6096000" cy="4257675"/>
            <a:chOff x="609600" y="1809750"/>
            <a:chExt cx="6096000" cy="4257675"/>
          </a:xfrm>
        </p:grpSpPr>
        <p:sp>
          <p:nvSpPr>
            <p:cNvPr id="5" name="Rectangle 5"/>
            <p:cNvSpPr/>
            <p:nvPr/>
          </p:nvSpPr>
          <p:spPr>
            <a:xfrm>
              <a:off x="609600" y="1809750"/>
              <a:ext cx="6096000" cy="4257675"/>
            </a:xfrm>
            <a:prstGeom prst="roundRect">
              <a:avLst>
                <a:gd name="adj" fmla="val 4474"/>
              </a:avLst>
            </a:prstGeom>
            <a:solidFill>
              <a:schemeClr val="lt2"/>
            </a:solidFill>
            <a:ln w="1143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7344" y="19685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支付结果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2390775"/>
              <a:ext cx="5638800" cy="9525"/>
            </a:xfrm>
            <a:custGeom>
              <a:avLst/>
              <a:gdLst/>
              <a:ahLst/>
              <a:cxnLst/>
              <a:rect l="l" t="t" r="r" b="b"/>
              <a:pathLst>
                <a:path w="5638800" h="9525">
                  <a:moveTo>
                    <a:pt x="0" y="0"/>
                  </a:moveTo>
                  <a:lnTo>
                    <a:pt x="5638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1634" y="2593975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正在确认这笔付款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6206" y="3232150"/>
              <a:ext cx="36409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演示订单尾号 0142 应付 ¥250.00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5444" y="3781425"/>
              <a:ext cx="39822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现在还不能确定是否付款成功。</a:t>
              </a:r>
              <a:b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你可以查询结果，或到订单中查看。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95350" y="5124450"/>
              <a:ext cx="2667000" cy="4572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54099" y="521652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查询付款结果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714750" y="5124450"/>
              <a:ext cx="26670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1143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95622" y="52165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查看订单</a:t>
              </a:r>
            </a:p>
          </p:txBody>
        </p:sp>
      </p:grpSp>
      <p:grpSp>
        <p:nvGrpSpPr>
          <p:cNvPr id="26" name="payment-outcomes"/>
          <p:cNvGrpSpPr/>
          <p:nvPr/>
        </p:nvGrpSpPr>
        <p:grpSpPr>
          <a:xfrm>
            <a:off x="7381494" y="2082800"/>
            <a:ext cx="2899054" cy="3525076"/>
            <a:chOff x="7381494" y="2082800"/>
            <a:chExt cx="2899054" cy="3525076"/>
          </a:xfrm>
        </p:grpSpPr>
        <p:sp>
          <p:nvSpPr>
            <p:cNvPr id="16" name="TextBox 16"/>
            <p:cNvSpPr txBox="1"/>
            <p:nvPr/>
          </p:nvSpPr>
          <p:spPr>
            <a:xfrm>
              <a:off x="7381494" y="20828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查询之后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29500" y="2828925"/>
              <a:ext cx="133350" cy="133350"/>
            </a:xfrm>
            <a:prstGeom prst="ellipse">
              <a:avLst/>
            </a:prstGeom>
            <a:solidFill>
              <a:srgbClr val="18795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14107" y="271780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7956"/>
                  </a:solidFill>
                  <a:latin typeface="+mn-lt"/>
                  <a:ea typeface="+mn-ea"/>
                  <a:cs typeface="+mn-cs"/>
                </a:rPr>
                <a:t>已支付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16012" y="3136900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查看成功订单，停止重试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29500" y="38957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14107" y="37846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最终失败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16012" y="420370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继续查券与重新结算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29500" y="4962525"/>
              <a:ext cx="133350" cy="133350"/>
            </a:xfrm>
            <a:prstGeom prst="ellipse">
              <a:avLst/>
            </a:prstGeom>
            <a:solidFill>
              <a:srgbClr val="A76A1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14107" y="48514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76A18"/>
                  </a:solidFill>
                  <a:latin typeface="+mn-lt"/>
                  <a:ea typeface="+mn-ea"/>
                  <a:cs typeface="+mn-cs"/>
                </a:rPr>
                <a:t>仍未确定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16012" y="5270500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保留确认中，稍后再查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14350"/>
            <a:ext cx="5175999" cy="986282"/>
            <a:chOff x="592074" y="514350"/>
            <a:chExt cx="5175999" cy="986282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5143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取消之后，券的去向可查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20268" y="1177925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设计原型。只有服务端确认释放后，才显示“已返还”</a:t>
              </a:r>
            </a:p>
          </p:txBody>
        </p:sp>
      </p:grpSp>
      <p:grpSp>
        <p:nvGrpSpPr>
          <p:cNvPr id="13" name="coupon-held-ui"/>
          <p:cNvGrpSpPr/>
          <p:nvPr/>
        </p:nvGrpSpPr>
        <p:grpSpPr>
          <a:xfrm>
            <a:off x="609600" y="1847850"/>
            <a:ext cx="5181600" cy="4114800"/>
            <a:chOff x="609600" y="1847850"/>
            <a:chExt cx="5181600" cy="4114800"/>
          </a:xfrm>
        </p:grpSpPr>
        <p:sp>
          <p:nvSpPr>
            <p:cNvPr id="5" name="Rectangle 5"/>
            <p:cNvSpPr/>
            <p:nvPr/>
          </p:nvSpPr>
          <p:spPr>
            <a:xfrm>
              <a:off x="609600" y="1847850"/>
              <a:ext cx="5181600" cy="4114800"/>
            </a:xfrm>
            <a:prstGeom prst="roundRect">
              <a:avLst>
                <a:gd name="adj" fmla="val 4630"/>
              </a:avLst>
            </a:prstGeom>
            <a:solidFill>
              <a:schemeClr val="lt2"/>
            </a:solidFill>
            <a:ln w="1143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7344" y="20066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订单恢复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242887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5820" y="2673350"/>
              <a:ext cx="28587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76A18"/>
                  </a:solidFill>
                  <a:latin typeface="+mn-lt"/>
                  <a:ea typeface="+mn-ea"/>
                  <a:cs typeface="+mn-cs"/>
                </a:rPr>
                <a:t>平台券 ¥30 仍被占用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487" y="3222625"/>
              <a:ext cx="221721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原占用订单尾号 0142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765550"/>
              <a:ext cx="299008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券仍由原订单占用。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刷新只查询，不代表已返还。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5095875"/>
              <a:ext cx="4686300" cy="4572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36710" y="51879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刷新券状态</a:t>
              </a:r>
            </a:p>
          </p:txBody>
        </p:sp>
      </p:grpSp>
      <p:grpSp>
        <p:nvGrpSpPr>
          <p:cNvPr id="22" name="coupon-returned-ui"/>
          <p:cNvGrpSpPr/>
          <p:nvPr/>
        </p:nvGrpSpPr>
        <p:grpSpPr>
          <a:xfrm>
            <a:off x="6400800" y="1847850"/>
            <a:ext cx="5181600" cy="4114800"/>
            <a:chOff x="6400800" y="1847850"/>
            <a:chExt cx="5181600" cy="4114800"/>
          </a:xfrm>
        </p:grpSpPr>
        <p:sp>
          <p:nvSpPr>
            <p:cNvPr id="14" name="Rectangle 14"/>
            <p:cNvSpPr/>
            <p:nvPr/>
          </p:nvSpPr>
          <p:spPr>
            <a:xfrm>
              <a:off x="6400800" y="1847850"/>
              <a:ext cx="5181600" cy="4114800"/>
            </a:xfrm>
            <a:prstGeom prst="roundRect">
              <a:avLst>
                <a:gd name="adj" fmla="val 4630"/>
              </a:avLst>
            </a:prstGeom>
            <a:solidFill>
              <a:schemeClr val="lt2"/>
            </a:solidFill>
            <a:ln w="1143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8544" y="200660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优惠券返还结果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629400" y="2428875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37020" y="2673350"/>
              <a:ext cx="25558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87956"/>
                  </a:solidFill>
                  <a:latin typeface="+mn-lt"/>
                  <a:ea typeface="+mn-ea"/>
                  <a:cs typeface="+mn-cs"/>
                </a:rPr>
                <a:t>平台券 ¥30 已返还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39687" y="3222625"/>
              <a:ext cx="221721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原占用订单尾号 0142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39306" y="3765550"/>
              <a:ext cx="344728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系统已确认可用，且仍符合条件。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本次应付仍需以新报价为准。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48450" y="5095875"/>
              <a:ext cx="4686300" cy="4572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83664" y="51879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重新结算并核对金额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14350"/>
            <a:ext cx="6609186" cy="986282"/>
            <a:chOff x="592074" y="514350"/>
            <a:chExt cx="6609186" cy="986282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660918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重试前，让用户看清多出的30元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20268" y="117792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演示数据，不是评论中的实际价格。界面不会发起真实支付</a:t>
              </a:r>
            </a:p>
          </p:txBody>
        </p:sp>
      </p:grpSp>
      <p:grpSp>
        <p:nvGrpSpPr>
          <p:cNvPr id="21" name="amount-confirmation-ui"/>
          <p:cNvGrpSpPr/>
          <p:nvPr/>
        </p:nvGrpSpPr>
        <p:grpSpPr>
          <a:xfrm>
            <a:off x="609600" y="1800225"/>
            <a:ext cx="5410200" cy="4286250"/>
            <a:chOff x="609600" y="1800225"/>
            <a:chExt cx="5410200" cy="4286250"/>
          </a:xfrm>
        </p:grpSpPr>
        <p:sp>
          <p:nvSpPr>
            <p:cNvPr id="5" name="Rectangle 5"/>
            <p:cNvSpPr/>
            <p:nvPr/>
          </p:nvSpPr>
          <p:spPr>
            <a:xfrm>
              <a:off x="609600" y="1800225"/>
              <a:ext cx="5410200" cy="428625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 w="1143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7344" y="195897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重新确认金额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23812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3915" y="2644775"/>
              <a:ext cx="2974397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本次应付 ¥280.00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487" y="3165475"/>
              <a:ext cx="297668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B43B4A"/>
                  </a:solidFill>
                  <a:latin typeface="+mn-lt"/>
                  <a:ea typeface="+mn-ea"/>
                  <a:cs typeface="+mn-cs"/>
                </a:rPr>
                <a:t>比上次确认的金额多 ¥30.00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868" y="3740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商品金额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08594" y="3740150"/>
              <a:ext cx="871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¥300.00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868" y="4121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店铺优惠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08594" y="4121150"/>
              <a:ext cx="871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−¥20.00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8868" y="4502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平台优惠券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53153" y="4502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本次不可用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630" y="49657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原因：平台券已过演示有效期。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" y="5410200"/>
              <a:ext cx="23622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1143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52538" y="55022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返回处理券问题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371850" y="5410200"/>
              <a:ext cx="2400300" cy="4572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51758" y="5502275"/>
              <a:ext cx="1640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确认按¥280继续</a:t>
              </a:r>
            </a:p>
          </p:txBody>
        </p:sp>
      </p:grpSp>
      <p:grpSp>
        <p:nvGrpSpPr>
          <p:cNvPr id="31" name="amount-comparison"/>
          <p:cNvGrpSpPr/>
          <p:nvPr/>
        </p:nvGrpSpPr>
        <p:grpSpPr>
          <a:xfrm>
            <a:off x="6828663" y="2190750"/>
            <a:ext cx="4601337" cy="3833241"/>
            <a:chOff x="6828663" y="2190750"/>
            <a:chExt cx="4601337" cy="3833241"/>
          </a:xfrm>
        </p:grpSpPr>
        <p:sp>
          <p:nvSpPr>
            <p:cNvPr id="22" name="TextBox 22"/>
            <p:cNvSpPr txBox="1"/>
            <p:nvPr/>
          </p:nvSpPr>
          <p:spPr>
            <a:xfrm>
              <a:off x="6829425" y="2190750"/>
              <a:ext cx="28029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同一演示订单的金额构成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30568" y="29400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0" y="2705100"/>
              <a:ext cx="105264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28663" y="3489325"/>
              <a:ext cx="169295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300 − 20 − 30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838950" y="4095750"/>
              <a:ext cx="4591050" cy="9525"/>
            </a:xfrm>
            <a:custGeom>
              <a:avLst/>
              <a:gdLst/>
              <a:ahLst/>
              <a:cxnLst/>
              <a:rect l="l" t="t" r="r" b="b"/>
              <a:pathLst>
                <a:path w="4591050" h="9525">
                  <a:moveTo>
                    <a:pt x="0" y="0"/>
                  </a:moveTo>
                  <a:lnTo>
                    <a:pt x="45910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30568" y="447357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4300" y="4140200"/>
              <a:ext cx="136750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280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28663" y="5149850"/>
              <a:ext cx="196489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300 − 20 ＝ 280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30949" y="5715000"/>
              <a:ext cx="365316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券到期少抵扣30元，用户重新作决定。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14350"/>
            <a:ext cx="6537198" cy="986282"/>
            <a:chOff x="592074" y="514350"/>
            <a:chExt cx="6537198" cy="986282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653719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无法自行恢复时，保留核查入口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20268" y="1177925"/>
              <a:ext cx="54767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方案B原型。仅模拟登记，不向客服或账户系统提交资料</a:t>
              </a:r>
            </a:p>
          </p:txBody>
        </p:sp>
      </p:grpSp>
      <p:grpSp>
        <p:nvGrpSpPr>
          <p:cNvPr id="15" name="manual-review-ui"/>
          <p:cNvGrpSpPr/>
          <p:nvPr/>
        </p:nvGrpSpPr>
        <p:grpSpPr>
          <a:xfrm>
            <a:off x="609600" y="1847850"/>
            <a:ext cx="5334000" cy="4095750"/>
            <a:chOff x="609600" y="1847850"/>
            <a:chExt cx="5334000" cy="4095750"/>
          </a:xfrm>
        </p:grpSpPr>
        <p:sp>
          <p:nvSpPr>
            <p:cNvPr id="5" name="Rectangle 5"/>
            <p:cNvSpPr/>
            <p:nvPr/>
          </p:nvSpPr>
          <p:spPr>
            <a:xfrm>
              <a:off x="609600" y="1847850"/>
              <a:ext cx="5334000" cy="409575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 w="1143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7344" y="200660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优惠券问题核查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2428875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4677" y="2647950"/>
              <a:ext cx="2362149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付款失败已确认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725" y="3190875"/>
              <a:ext cx="264165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平台券 ¥30 当前不可用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794125"/>
              <a:ext cx="344728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原订单已取消。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券的释放记录与适用资格仍待核。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5057775"/>
              <a:ext cx="2324100" cy="457200"/>
            </a:xfrm>
            <a:prstGeom prst="roundRec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44549" y="51498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提交人工核查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33750" y="5057775"/>
              <a:ext cx="236220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1143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29038" y="51498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查看订单与金额</a:t>
              </a:r>
            </a:p>
          </p:txBody>
        </p:sp>
      </p:grpSp>
      <p:grpSp>
        <p:nvGrpSpPr>
          <p:cNvPr id="21" name="review-handoff"/>
          <p:cNvGrpSpPr/>
          <p:nvPr/>
        </p:nvGrpSpPr>
        <p:grpSpPr>
          <a:xfrm>
            <a:off x="6618732" y="2070100"/>
            <a:ext cx="4963668" cy="3825875"/>
            <a:chOff x="6618732" y="2070100"/>
            <a:chExt cx="4963668" cy="3825875"/>
          </a:xfrm>
        </p:grpSpPr>
        <p:sp>
          <p:nvSpPr>
            <p:cNvPr id="16" name="TextBox 16"/>
            <p:cNvSpPr txBox="1"/>
            <p:nvPr/>
          </p:nvSpPr>
          <p:spPr>
            <a:xfrm>
              <a:off x="6618732" y="207010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核查入口携带什么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494" y="2593975"/>
              <a:ext cx="2248662" cy="1371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订单结果与时间</a:t>
              </a:r>
              <a:b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占券来源及释放记录</a:t>
              </a:r>
              <a:b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当前报价与适用规则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29400" y="4791075"/>
              <a:ext cx="4953000" cy="1104900"/>
            </a:xfrm>
            <a:prstGeom prst="roundRect">
              <a:avLst>
                <a:gd name="adj" fmla="val 12069"/>
              </a:avLst>
            </a:prstGeom>
            <a:solidFill>
              <a:srgbClr val="E8EF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49237" y="4927600"/>
              <a:ext cx="93051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 的代价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9237" y="5327650"/>
              <a:ext cx="34907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范围较窄，用户仍可能需要等待。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14350"/>
            <a:ext cx="7466076" cy="986282"/>
            <a:chOff x="592074" y="514350"/>
            <a:chExt cx="7466076" cy="986282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746607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验证分两步，先核对状态再观察理解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20268" y="117792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拟议计划，尚未执行。人数、记录数与资源安排需执行前确认</a:t>
              </a:r>
            </a:p>
          </p:txBody>
        </p:sp>
      </p:grpSp>
      <p:grpSp>
        <p:nvGrpSpPr>
          <p:cNvPr id="10" name="log-validation"/>
          <p:cNvGrpSpPr/>
          <p:nvPr/>
        </p:nvGrpSpPr>
        <p:grpSpPr>
          <a:xfrm>
            <a:off x="800100" y="1930400"/>
            <a:ext cx="3037916" cy="3458401"/>
            <a:chOff x="800100" y="1930400"/>
            <a:chExt cx="3037916" cy="3458401"/>
          </a:xfrm>
        </p:grpSpPr>
        <p:sp>
          <p:nvSpPr>
            <p:cNvPr id="5" name="TextBox 5"/>
            <p:cNvSpPr txBox="1"/>
            <p:nvPr/>
          </p:nvSpPr>
          <p:spPr>
            <a:xfrm>
              <a:off x="800100" y="1930400"/>
              <a:ext cx="1204246" cy="144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40458" y="254635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笔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07720" y="3216275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先核对相关订单记录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9625" y="3781425"/>
              <a:ext cx="2884170" cy="767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对齐支付回执、取消时间、</a:t>
              </a:r>
              <a:b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占用订单与释放结果。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387" y="5051425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产出：状态真值与可复现用例</a:t>
              </a:r>
            </a:p>
          </p:txBody>
        </p:sp>
      </p:grpSp>
      <p:grpSp>
        <p:nvGrpSpPr>
          <p:cNvPr id="16" name="user-validation"/>
          <p:cNvGrpSpPr/>
          <p:nvPr/>
        </p:nvGrpSpPr>
        <p:grpSpPr>
          <a:xfrm>
            <a:off x="6838950" y="1930400"/>
            <a:ext cx="3269463" cy="3458401"/>
            <a:chOff x="6838950" y="1930400"/>
            <a:chExt cx="3269463" cy="3458401"/>
          </a:xfrm>
        </p:grpSpPr>
        <p:sp>
          <p:nvSpPr>
            <p:cNvPr id="11" name="TextBox 11"/>
            <p:cNvSpPr txBox="1"/>
            <p:nvPr/>
          </p:nvSpPr>
          <p:spPr>
            <a:xfrm>
              <a:off x="6838950" y="1930400"/>
              <a:ext cx="621173" cy="144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98283" y="254635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46570" y="3216275"/>
              <a:ext cx="28156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再比较A、B原型体验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48475" y="3781425"/>
              <a:ext cx="3122930" cy="767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4人先A后B，4人先B后A。</a:t>
              </a:r>
              <a:b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用等价任务观察理解与完成。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49237" y="5051425"/>
              <a:ext cx="325917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产出：逐人逐任务的错误与原因</a:t>
              </a:r>
            </a:p>
          </p:txBody>
        </p:sp>
      </p:grpSp>
      <p:grpSp>
        <p:nvGrpSpPr>
          <p:cNvPr id="18" name="validation-dependency"/>
          <p:cNvGrpSpPr/>
          <p:nvPr/>
        </p:nvGrpSpPr>
        <p:grpSpPr>
          <a:xfrm>
            <a:off x="5791200" y="3714750"/>
            <a:ext cx="647700" cy="1"/>
            <a:chOff x="5791200" y="3714750"/>
            <a:chExt cx="647700" cy="1"/>
          </a:xfrm>
        </p:grpSpPr>
        <p:sp>
          <p:nvSpPr>
            <p:cNvPr id="17" name="Line 17"/>
            <p:cNvSpPr/>
            <p:nvPr/>
          </p:nvSpPr>
          <p:spPr>
            <a:xfrm>
              <a:off x="5791200" y="3714750"/>
              <a:ext cx="6477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21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2074" y="514350"/>
            <a:ext cx="7001637" cy="986282"/>
            <a:chOff x="592074" y="514350"/>
            <a:chExt cx="7001637" cy="986282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700163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关键误解出现，就回到对应环节改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20268" y="1177925"/>
              <a:ext cx="58141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以下为建议标准，未实测。8人体验两版，仍是8名独立用户</a:t>
              </a:r>
            </a:p>
          </p:txBody>
        </p:sp>
      </p:grpSp>
      <p:grpSp>
        <p:nvGrpSpPr>
          <p:cNvPr id="18" name="test-conditions"/>
          <p:cNvGrpSpPr/>
          <p:nvPr/>
        </p:nvGrpSpPr>
        <p:grpSpPr>
          <a:xfrm>
            <a:off x="598932" y="1898650"/>
            <a:ext cx="2659913" cy="3488690"/>
            <a:chOff x="598932" y="1898650"/>
            <a:chExt cx="2659913" cy="348869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986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覆盖六类输入状态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685800" y="25908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62025" y="249555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支付结果仍未定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685800" y="30956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2025" y="3000375"/>
              <a:ext cx="229682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已失败，券仍被占用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85800" y="3600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2025" y="3505200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已失败，券已返还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85800" y="41052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62025" y="4010025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券到期或资格改变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85800" y="4610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2025" y="4514850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回查结果为已支付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85800" y="51149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2025" y="5019675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切后台或重复操作</a:t>
              </a:r>
            </a:p>
          </p:txBody>
        </p:sp>
      </p:grpSp>
      <p:grpSp>
        <p:nvGrpSpPr>
          <p:cNvPr id="26" name="provisional-criteria"/>
          <p:cNvGrpSpPr/>
          <p:nvPr/>
        </p:nvGrpSpPr>
        <p:grpSpPr>
          <a:xfrm>
            <a:off x="6610350" y="1898650"/>
            <a:ext cx="3640963" cy="3765550"/>
            <a:chOff x="6610350" y="1898650"/>
            <a:chExt cx="3640963" cy="3765550"/>
          </a:xfrm>
        </p:grpSpPr>
        <p:sp>
          <p:nvSpPr>
            <p:cNvPr id="19" name="TextBox 19"/>
            <p:cNvSpPr txBox="1"/>
            <p:nvPr/>
          </p:nvSpPr>
          <p:spPr>
            <a:xfrm>
              <a:off x="6618732" y="18986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建议的通过判断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0350" y="2355850"/>
              <a:ext cx="9476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8/8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9387" y="2470150"/>
              <a:ext cx="2201926" cy="680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每版均能说对支付状态</a:t>
              </a:r>
              <a:b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和最终金额及变化原因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10350" y="3565525"/>
              <a:ext cx="9476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6/8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49387" y="3679825"/>
              <a:ext cx="1765046" cy="680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每项每版至少6人</a:t>
              </a:r>
              <a:b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不靠提示完成任务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0350" y="4559300"/>
              <a:ext cx="48123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49387" y="4841875"/>
              <a:ext cx="1983486" cy="680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预设系统用例中的</a:t>
              </a:r>
              <a:b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重复支付或重复放券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2074" y="514350"/>
            <a:ext cx="5143881" cy="674751"/>
            <a:chOff x="592074" y="514350"/>
            <a:chExt cx="5143881" cy="674751"/>
          </a:xfrm>
        </p:grpSpPr>
        <p:sp>
          <p:nvSpPr>
            <p:cNvPr id="2" name="TextBox 2"/>
            <p:cNvSpPr txBox="1"/>
            <p:nvPr/>
          </p:nvSpPr>
          <p:spPr>
            <a:xfrm>
              <a:off x="592074" y="514350"/>
              <a:ext cx="5143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这轮交付先用于设计评审</a:t>
              </a:r>
            </a:p>
          </p:txBody>
        </p:sp>
      </p:grpSp>
      <p:grpSp>
        <p:nvGrpSpPr>
          <p:cNvPr id="8" name="next-decision"/>
          <p:cNvGrpSpPr/>
          <p:nvPr/>
        </p:nvGrpSpPr>
        <p:grpSpPr>
          <a:xfrm>
            <a:off x="595122" y="1857375"/>
            <a:ext cx="8806434" cy="1391031"/>
            <a:chOff x="595122" y="1857375"/>
            <a:chExt cx="8806434" cy="1391031"/>
          </a:xfrm>
        </p:grpSpPr>
        <p:sp>
          <p:nvSpPr>
            <p:cNvPr id="4" name="TextBox 4"/>
            <p:cNvSpPr txBox="1"/>
            <p:nvPr/>
          </p:nvSpPr>
          <p:spPr>
            <a:xfrm>
              <a:off x="595122" y="1857375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业务状态核对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9694" y="2466975"/>
              <a:ext cx="274396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订单、支付与优惠团队</a:t>
              </a:r>
              <a:b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明确状态字典与释放规则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05372" y="1857375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原型任务测试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09944" y="2466975"/>
              <a:ext cx="29916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设计与研究团队</a:t>
              </a:r>
              <a:b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记录理解、求助与失败原因</a:t>
              </a:r>
            </a:p>
          </p:txBody>
        </p:sp>
      </p:grpSp>
      <p:grpSp>
        <p:nvGrpSpPr>
          <p:cNvPr id="11" name="scope-close"/>
          <p:cNvGrpSpPr/>
          <p:nvPr/>
        </p:nvGrpSpPr>
        <p:grpSpPr>
          <a:xfrm>
            <a:off x="609600" y="3981450"/>
            <a:ext cx="10972800" cy="695325"/>
            <a:chOff x="609600" y="3981450"/>
            <a:chExt cx="10972800" cy="695325"/>
          </a:xfrm>
        </p:grpSpPr>
        <p:sp>
          <p:nvSpPr>
            <p:cNvPr id="9" name="Rectangle 9"/>
            <p:cNvSpPr/>
            <p:nvPr/>
          </p:nvSpPr>
          <p:spPr>
            <a:xfrm>
              <a:off x="609600" y="3981450"/>
              <a:ext cx="10972800" cy="695325"/>
            </a:xfrm>
            <a:prstGeom prst="roundRect">
              <a:avLst>
                <a:gd name="adj" fmla="val 191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532" y="4165600"/>
              <a:ext cx="60826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接入V0.4、实际测试和上线发布，分别作决定。</a:t>
              </a:r>
            </a:p>
          </p:txBody>
        </p:sp>
      </p:grpSp>
      <p:grpSp>
        <p:nvGrpSpPr>
          <p:cNvPr id="17" name="source-index"/>
          <p:cNvGrpSpPr/>
          <p:nvPr/>
        </p:nvGrpSpPr>
        <p:grpSpPr>
          <a:xfrm>
            <a:off x="600456" y="5054600"/>
            <a:ext cx="8977884" cy="1168908"/>
            <a:chOff x="600456" y="5054600"/>
            <a:chExt cx="8977884" cy="1168908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50546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证据入口</a:t>
              </a:r>
            </a:p>
          </p:txBody>
        </p:sp>
        <p:sp>
          <p:nvSpPr>
            <p:cNvPr id="13" name="TextBox 13">
              <a:hlinkClick r:id="rId2"/>
            </p:cNvPr>
            <p:cNvSpPr txBox="1"/>
            <p:nvPr/>
          </p:nvSpPr>
          <p:spPr>
            <a:xfrm>
              <a:off x="600456" y="552767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结算失败原帖</a:t>
              </a:r>
            </a:p>
          </p:txBody>
        </p:sp>
        <p:sp>
          <p:nvSpPr>
            <p:cNvPr id="14" name="TextBox 14">
              <a:hlinkClick r:id="rId3"/>
            </p:cNvPr>
            <p:cNvSpPr txBox="1"/>
            <p:nvPr/>
          </p:nvSpPr>
          <p:spPr>
            <a:xfrm>
              <a:off x="4353306" y="552767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分摊金额原帖</a:t>
              </a:r>
            </a:p>
          </p:txBody>
        </p:sp>
        <p:sp>
          <p:nvSpPr>
            <p:cNvPr id="15" name="TextBox 15">
              <a:hlinkClick r:id="rId4"/>
            </p:cNvPr>
            <p:cNvSpPr txBox="1"/>
            <p:nvPr/>
          </p:nvSpPr>
          <p:spPr>
            <a:xfrm>
              <a:off x="8106156" y="552767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价格预览原帖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2742" y="5959475"/>
              <a:ext cx="6656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研究原窗：2025.10.27—2026.10.27。设备、版本、当前界面与后台记录仍待核。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3504" y="6467475"/>
            <a:ext cx="10984992" cy="234696"/>
            <a:chOff x="603504" y="6467475"/>
            <a:chExt cx="109849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03504" y="646747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设计试用稿，测试尚未开展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35132" y="64674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taobao_payment_redesign">
  <a:themeElements>
    <a:clrScheme name="taobao_payment_redesign">
      <a:dk1>
        <a:srgbClr val="1B2739"/>
      </a:dk1>
      <a:lt1>
        <a:srgbClr val="F5F7FB"/>
      </a:lt1>
      <a:dk2>
        <a:srgbClr val="1F497D"/>
      </a:dk2>
      <a:lt2>
        <a:srgbClr val="FFFFFF"/>
      </a:lt2>
      <a:accent1>
        <a:srgbClr val="143866"/>
      </a:accent1>
      <a:accent2>
        <a:srgbClr val="F06B2D"/>
      </a:accent2>
      <a:accent3>
        <a:srgbClr val="C4D3E8"/>
      </a:accent3>
      <a:accent4>
        <a:srgbClr val="143866"/>
      </a:accent4>
      <a:accent5>
        <a:srgbClr val="5C6C80"/>
      </a:accent5>
      <a:accent6>
        <a:srgbClr val="D7E0EC"/>
      </a:accent6>
      <a:hlink>
        <a:srgbClr val="F06B2D"/>
      </a:hlink>
      <a:folHlink>
        <a:srgbClr val="C4D3E8"/>
      </a:folHlink>
    </a:clrScheme>
    <a:fontScheme name="taobao_payment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aobao_payment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aobao_payment_redesign">
  <a:themeElements>
    <a:clrScheme name="taobao_payment_redesign">
      <a:dk1>
        <a:srgbClr val="1B2739"/>
      </a:dk1>
      <a:lt1>
        <a:srgbClr val="F5F7FB"/>
      </a:lt1>
      <a:dk2>
        <a:srgbClr val="1F497D"/>
      </a:dk2>
      <a:lt2>
        <a:srgbClr val="FFFFFF"/>
      </a:lt2>
      <a:accent1>
        <a:srgbClr val="143866"/>
      </a:accent1>
      <a:accent2>
        <a:srgbClr val="F06B2D"/>
      </a:accent2>
      <a:accent3>
        <a:srgbClr val="C4D3E8"/>
      </a:accent3>
      <a:accent4>
        <a:srgbClr val="143866"/>
      </a:accent4>
      <a:accent5>
        <a:srgbClr val="5C6C80"/>
      </a:accent5>
      <a:accent6>
        <a:srgbClr val="D7E0EC"/>
      </a:accent6>
      <a:hlink>
        <a:srgbClr val="F06B2D"/>
      </a:hlink>
      <a:folHlink>
        <a:srgbClr val="C4D3E8"/>
      </a:folHlink>
    </a:clrScheme>
    <a:fontScheme name="taobao_payment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aobao_payment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2026-10-28T03:34:01Z</dcterms:created>
  <dcterms:modified xsi:type="dcterms:W3CDTF">2026-10-28T03:34:01Z</dcterms:modified>
  <cp:category/>
  <cp:contentStatus/>
</cp:coreProperties>
</file>